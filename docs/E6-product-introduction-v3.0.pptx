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31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72" r:id="rId4"/>
    <p:sldMasterId id="2147483674" r:id="rId5"/>
    <p:sldMasterId id="2147483676" r:id="rId6"/>
  </p:sldMasterIdLst>
  <p:notesMasterIdLst>
    <p:notesMasterId r:id="rId8"/>
  </p:notesMasterIdLst>
  <p:handoutMasterIdLst>
    <p:handoutMasterId r:id="rId23"/>
  </p:handout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这是朗慧Ego数据采集系统的介绍封面页。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设计上采用了深蓝色的科技感渐变背景，契合数据、科技、智能的主题。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页面核心突出了“朗慧Ego数据采集”的主题，辅以雷达扫描图标象征全方位的数据感知能力。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副标题强调了系统的核心价值：全场景覆盖、高并发处理以及低延迟传输，为上层智慧生态提供坚实的数据基础。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本页主要展示了系统升级与开发所需的所有文件资源下载信息。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1. </a:t>
            </a:r>
            <a:r>
              <a:rPr lang="en-US" sz="1400" b="0" i="0" u="none" strike="noStrike">
                <a:solidFill>
                  <a:srgbClr val="000000"/>
                </a:solidFill>
              </a:rPr>
              <a:t>核心下载链接位于页面上方，请注意如果遇到大文件下载限制，刷新页面重试即可。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2. </a:t>
            </a:r>
            <a:r>
              <a:rPr lang="en-US" sz="1400" b="0" i="0" u="none" strike="noStrike">
                <a:solidFill>
                  <a:srgbClr val="000000"/>
                </a:solidFill>
              </a:rPr>
              <a:t>文件清单分为四个主要部分：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- </a:t>
            </a:r>
            <a:r>
              <a:rPr lang="en-US" sz="1400" b="0" i="0" u="none" strike="noStrike">
                <a:solidFill>
                  <a:srgbClr val="000000"/>
                </a:solidFill>
              </a:rPr>
              <a:t>系统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ROM</a:t>
            </a:r>
            <a:r>
              <a:rPr lang="en-US" sz="1400" b="0" i="0" u="none" strike="noStrike">
                <a:solidFill>
                  <a:srgbClr val="000000"/>
                </a:solidFill>
              </a:rPr>
              <a:t>包：包含完整的系统镜像和刷机脚本，用于底层系统更新。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- SDK</a:t>
            </a:r>
            <a:r>
              <a:rPr lang="en-US" sz="1400" b="0" i="0" u="none" strike="noStrike">
                <a:solidFill>
                  <a:srgbClr val="000000"/>
                </a:solidFill>
              </a:rPr>
              <a:t>与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Demo</a:t>
            </a:r>
            <a:r>
              <a:rPr lang="en-US" sz="1400" b="0" i="0" u="none" strike="noStrike">
                <a:solidFill>
                  <a:srgbClr val="000000"/>
                </a:solidFill>
              </a:rPr>
              <a:t>：提供给开发者进行二次开发的核心工具包和示例程序。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- </a:t>
            </a:r>
            <a:r>
              <a:rPr lang="en-US" sz="1400" b="0" i="0" u="none" strike="noStrike">
                <a:solidFill>
                  <a:srgbClr val="000000"/>
                </a:solidFill>
              </a:rPr>
              <a:t>环境工具：涵盖了调试、投屏和播放所需的必要软件，确保开发环境配置顺畅。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- </a:t>
            </a:r>
            <a:r>
              <a:rPr lang="en-US" sz="1400" b="0" i="0" u="none" strike="noStrike">
                <a:solidFill>
                  <a:srgbClr val="000000"/>
                </a:solidFill>
              </a:rPr>
              <a:t>手机端工具：提供便捷的移动端遥控方案，方便测试和演示。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本页详细介绍了E6头环应用的安装方法及自启动配置。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首先是重要提示：必须确保安装最新版本的应用，这是设备正常运行的基础。如果不使用手机APP连接，就需要配置应用的开机自启动。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在安装流程方面，用户需要下载指定的压缩包，解压后运行install_vr.bat脚本文件，系统会自动完成安装。如果遇到问题，首要检查ADB环境是否配置正确。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关于自启动配置，需要通过ADB命令行输入两条设置属性的命令，分别指定包名和入口Activity，最后重启设备使设置生效。这样设备在开机后就能自动运行目标VR应用，实现离线使用。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本页介绍了手机APP的安装流程及环境准备工作。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1. </a:t>
            </a:r>
            <a:r>
              <a:rPr lang="en-US" sz="1400" b="0" i="0" u="none" strike="noStrike">
                <a:solidFill>
                  <a:srgbClr val="000000"/>
                </a:solidFill>
              </a:rPr>
              <a:t>前提条件：必须保证头环硬件和手机软件的版本同步，这是稳定连接的基础。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2. </a:t>
            </a:r>
            <a:r>
              <a:rPr lang="en-US" sz="1400" b="0" i="0" u="none" strike="noStrike">
                <a:solidFill>
                  <a:srgbClr val="000000"/>
                </a:solidFill>
              </a:rPr>
              <a:t>安装过程：非常简单，解压提供的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ZIP</a:t>
            </a:r>
            <a:r>
              <a:rPr lang="en-US" sz="1400" b="0" i="0" u="none" strike="noStrike">
                <a:solidFill>
                  <a:srgbClr val="000000"/>
                </a:solidFill>
              </a:rPr>
              <a:t>包，找到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APK</a:t>
            </a:r>
            <a:r>
              <a:rPr lang="en-US" sz="1400" b="0" i="0" u="none" strike="noStrike">
                <a:solidFill>
                  <a:srgbClr val="000000"/>
                </a:solidFill>
              </a:rPr>
              <a:t>文件直接安装。注意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Android</a:t>
            </a:r>
            <a:r>
              <a:rPr lang="en-US" sz="1400" b="0" i="0" u="none" strike="noStrike">
                <a:solidFill>
                  <a:srgbClr val="000000"/>
                </a:solidFill>
              </a:rPr>
              <a:t>手机需要开启未知来源安装权限。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3. </a:t>
            </a:r>
            <a:r>
              <a:rPr lang="en-US" sz="1400" b="0" i="0" u="none" strike="noStrike">
                <a:solidFill>
                  <a:srgbClr val="000000"/>
                </a:solidFill>
              </a:rPr>
              <a:t>文档指引：遇到任何问题，优先查阅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README</a:t>
            </a:r>
            <a:r>
              <a:rPr lang="en-US" sz="1400" b="0" i="0" u="none" strike="noStrike">
                <a:solidFill>
                  <a:srgbClr val="000000"/>
                </a:solidFill>
              </a:rPr>
              <a:t>文档，里面有详细的环境配置说明。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本页介绍了手机APP的具体使用流程，主要分为三个关键步骤：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1. </a:t>
            </a:r>
            <a:r>
              <a:rPr lang="en-US" sz="1400" b="0" i="0" u="none" strike="noStrike">
                <a:solidFill>
                  <a:srgbClr val="000000"/>
                </a:solidFill>
              </a:rPr>
              <a:t>设备准备：首先要保证头环已经安装了最新的固件并成功开机，这是连接的基础。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2. APP</a:t>
            </a:r>
            <a:r>
              <a:rPr lang="en-US" sz="1400" b="0" i="0" u="none" strike="noStrike">
                <a:solidFill>
                  <a:srgbClr val="000000"/>
                </a:solidFill>
              </a:rPr>
              <a:t>连接：打开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XR Camera</a:t>
            </a:r>
            <a:r>
              <a:rPr lang="en-US" sz="1400" b="0" i="0" u="none" strike="noStrike">
                <a:solidFill>
                  <a:srgbClr val="000000"/>
                </a:solidFill>
              </a:rPr>
              <a:t>应用，通过扫描设备并配置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WiFi</a:t>
            </a:r>
            <a:r>
              <a:rPr lang="en-US" sz="1400" b="0" i="0" u="none" strike="noStrike">
                <a:solidFill>
                  <a:srgbClr val="000000"/>
                </a:solidFill>
              </a:rPr>
              <a:t>网络，建立手机与设备的通信连接。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3. </a:t>
            </a:r>
            <a:r>
              <a:rPr lang="en-US" sz="1400" b="0" i="0" u="none" strike="noStrike">
                <a:solidFill>
                  <a:srgbClr val="000000"/>
                </a:solidFill>
              </a:rPr>
              <a:t>局域网操控：在确保两者处于同一局域网的前提下，用户可以在手机端实时查看头环拍摄的画面，并进行录制、截图等操作。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上方的四张截图分别展示了WiFi配置界面、连接状态显示以及实际的画面预览效果，直观呈现了操作过程中的关键界面。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本页介绍了采集数据的导出流程，主要包含三个关键点：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1. </a:t>
            </a:r>
            <a:r>
              <a:rPr lang="en-US" sz="1400" b="0" i="0" u="none" strike="noStrike">
                <a:solidFill>
                  <a:srgbClr val="000000"/>
                </a:solidFill>
              </a:rPr>
              <a:t>录制操作：通过设备上的确认键进行开始和停止，目前仅支持中文语音提示。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2. </a:t>
            </a:r>
            <a:r>
              <a:rPr lang="en-US" sz="1400" b="0" i="0" u="none" strike="noStrike">
                <a:solidFill>
                  <a:srgbClr val="000000"/>
                </a:solidFill>
              </a:rPr>
              <a:t>存储路径：数据保存在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Android</a:t>
            </a:r>
            <a:r>
              <a:rPr lang="en-US" sz="1400" b="0" i="0" u="none" strike="noStrike">
                <a:solidFill>
                  <a:srgbClr val="000000"/>
                </a:solidFill>
              </a:rPr>
              <a:t>系统特定的文件目录下。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3. </a:t>
            </a:r>
            <a:r>
              <a:rPr lang="en-US" sz="1400" b="0" i="0" u="none" strike="noStrike">
                <a:solidFill>
                  <a:srgbClr val="000000"/>
                </a:solidFill>
              </a:rPr>
              <a:t>导出与播放：通过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USB</a:t>
            </a:r>
            <a:r>
              <a:rPr lang="en-US" sz="1400" b="0" i="0" u="none" strike="noStrike">
                <a:solidFill>
                  <a:srgbClr val="000000"/>
                </a:solidFill>
              </a:rPr>
              <a:t>连接电脑，在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SXR_1</a:t>
            </a:r>
            <a:r>
              <a:rPr lang="en-US" sz="1400" b="0" i="0" u="none" strike="noStrike">
                <a:solidFill>
                  <a:srgbClr val="000000"/>
                </a:solidFill>
              </a:rPr>
              <a:t>设备目录下找到对应文件。特别注意，由于编码格式为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HVC1</a:t>
            </a:r>
            <a:r>
              <a:rPr lang="en-US" sz="1400" b="0" i="0" u="none" strike="noStrike">
                <a:solidFill>
                  <a:srgbClr val="000000"/>
                </a:solidFill>
              </a:rPr>
              <a:t>，需使用第三方播放器如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VLC</a:t>
            </a:r>
            <a:r>
              <a:rPr lang="en-US" sz="1400" b="0" i="0" u="none" strike="noStrike">
                <a:solidFill>
                  <a:srgbClr val="000000"/>
                </a:solidFill>
              </a:rPr>
              <a:t>进行播放。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本页介绍了采集数据的导出流程，主要包含三个关键点：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1. </a:t>
            </a:r>
            <a:r>
              <a:rPr lang="en-US" sz="1400" b="0" i="0" u="none" strike="noStrike">
                <a:solidFill>
                  <a:srgbClr val="000000"/>
                </a:solidFill>
              </a:rPr>
              <a:t>录制操作：通过设备上的确认键进行开始和停止，目前仅支持中文语音提示。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2. </a:t>
            </a:r>
            <a:r>
              <a:rPr lang="en-US" sz="1400" b="0" i="0" u="none" strike="noStrike">
                <a:solidFill>
                  <a:srgbClr val="000000"/>
                </a:solidFill>
              </a:rPr>
              <a:t>存储路径：数据保存在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Android</a:t>
            </a:r>
            <a:r>
              <a:rPr lang="en-US" sz="1400" b="0" i="0" u="none" strike="noStrike">
                <a:solidFill>
                  <a:srgbClr val="000000"/>
                </a:solidFill>
              </a:rPr>
              <a:t>系统特定的文件目录下。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3. </a:t>
            </a:r>
            <a:r>
              <a:rPr lang="en-US" sz="1400" b="0" i="0" u="none" strike="noStrike">
                <a:solidFill>
                  <a:srgbClr val="000000"/>
                </a:solidFill>
              </a:rPr>
              <a:t>导出与播放：通过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USB</a:t>
            </a:r>
            <a:r>
              <a:rPr lang="en-US" sz="1400" b="0" i="0" u="none" strike="noStrike">
                <a:solidFill>
                  <a:srgbClr val="000000"/>
                </a:solidFill>
              </a:rPr>
              <a:t>连接电脑，在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SXR_1</a:t>
            </a:r>
            <a:r>
              <a:rPr lang="en-US" sz="1400" b="0" i="0" u="none" strike="noStrike">
                <a:solidFill>
                  <a:srgbClr val="000000"/>
                </a:solidFill>
              </a:rPr>
              <a:t>设备目录下找到对应文件。特别注意，由于编码格式为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HVC1</a:t>
            </a:r>
            <a:r>
              <a:rPr lang="en-US" sz="1400" b="0" i="0" u="none" strike="noStrike">
                <a:solidFill>
                  <a:srgbClr val="000000"/>
                </a:solidFill>
              </a:rPr>
              <a:t>，需使用第三方播放器如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VLC</a:t>
            </a:r>
            <a:r>
              <a:rPr lang="en-US" sz="1400" b="0" i="0" u="none" strike="noStrike">
                <a:solidFill>
                  <a:srgbClr val="000000"/>
                </a:solidFill>
              </a:rPr>
              <a:t>进行播放。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本页介绍了采集数据的导出流程，主要包含三个关键点：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1. </a:t>
            </a:r>
            <a:r>
              <a:rPr lang="en-US" sz="1400" b="0" i="0" u="none" strike="noStrike">
                <a:solidFill>
                  <a:srgbClr val="000000"/>
                </a:solidFill>
              </a:rPr>
              <a:t>录制操作：通过设备上的确认键进行开始和停止，目前仅支持中文语音提示。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2. </a:t>
            </a:r>
            <a:r>
              <a:rPr lang="en-US" sz="1400" b="0" i="0" u="none" strike="noStrike">
                <a:solidFill>
                  <a:srgbClr val="000000"/>
                </a:solidFill>
              </a:rPr>
              <a:t>存储路径：数据保存在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Android</a:t>
            </a:r>
            <a:r>
              <a:rPr lang="en-US" sz="1400" b="0" i="0" u="none" strike="noStrike">
                <a:solidFill>
                  <a:srgbClr val="000000"/>
                </a:solidFill>
              </a:rPr>
              <a:t>系统特定的文件目录下。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3. </a:t>
            </a:r>
            <a:r>
              <a:rPr lang="en-US" sz="1400" b="0" i="0" u="none" strike="noStrike">
                <a:solidFill>
                  <a:srgbClr val="000000"/>
                </a:solidFill>
              </a:rPr>
              <a:t>导出与播放：通过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USB</a:t>
            </a:r>
            <a:r>
              <a:rPr lang="en-US" sz="1400" b="0" i="0" u="none" strike="noStrike">
                <a:solidFill>
                  <a:srgbClr val="000000"/>
                </a:solidFill>
              </a:rPr>
              <a:t>连接电脑，在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SXR_1</a:t>
            </a:r>
            <a:r>
              <a:rPr lang="en-US" sz="1400" b="0" i="0" u="none" strike="noStrike">
                <a:solidFill>
                  <a:srgbClr val="000000"/>
                </a:solidFill>
              </a:rPr>
              <a:t>设备目录下找到对应文件。特别注意，由于编码格式为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HVC1</a:t>
            </a:r>
            <a:r>
              <a:rPr lang="en-US" sz="1400" b="0" i="0" u="none" strike="noStrike">
                <a:solidFill>
                  <a:srgbClr val="000000"/>
                </a:solidFill>
              </a:rPr>
              <a:t>，需使用第三方播放器如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VLC</a:t>
            </a:r>
            <a:r>
              <a:rPr lang="en-US" sz="1400" b="0" i="0" u="none" strike="noStrike">
                <a:solidFill>
                  <a:srgbClr val="000000"/>
                </a:solidFill>
              </a:rPr>
              <a:t>进行播放。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本页介绍了SDK的使用方法及输出的数据集结构。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左侧展示了SXR Camera API的核心说明，该API通过Native层提供接口，支持TRACKING、CTRL、RGB三种相机组，为XR设备提供底层视觉支持。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右侧上半部分列出了核心操作的ADB命令，包括启动应用、开始录制和停止录制，操作简单直接。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右侧下半部分详细说明了数据集的存储路径和内容结构。数据以时间戳命名目录，包含了丰富的多媒体和传感数据，如RGB视频、灰度跟踪视频、IMU姿态数据、手部关节数据以及麦克风音频，覆盖了XR应用开发所需的关键数据维度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本页介绍了SDK的使用方法及输出的数据集结构。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左侧展示了SXR Camera API的核心说明，该API通过Native层提供接口，支持TRACKING、CTRL、RGB三种相机组，为XR设备提供底层视觉支持。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右侧上半部分列出了核心操作的ADB命令，包括启动应用、开始录制和停止录制，操作简单直接。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右侧下半部分详细说明了数据集的存储路径和内容结构。数据以时间戳命名目录，包含了丰富的多媒体和传感数据，如RGB视频、灰度跟踪视频、IMU姿态数据、手部关节数据以及麦克风音频，覆盖了XR应用开发所需的关键数据维度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这一页主要介绍了如何通过ADB命令行工具来切换RGB相机的输出帧率。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我们提供了两种方案：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方案A是切换到60fps高帧率模式，适用于视频录制、快速运动捕捉等场景，能带来更流畅的视觉体验。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方案B是切换回30fps标准模式，这是系统默认的平衡选择，在功耗控制和数据传输效率上表现更好。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特别需要注意的是，修改属性后必须重启设备才能使新的帧率设置生效，且该设置是持久化的，不会因为断电而丢失。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本页介绍了系统升级的详细步骤。首先需要在Windows电脑上安装ADB驱动，然后校验当前系统版本是否与固件包匹配。接着下载解压固件，连接设备并确保处于正常供电状态。运行批处理脚本开始刷机，最后通过终端输出的“fastboot success”确认升级成功。特别注意，非Windows系统的兼容性未经验证，建议优先使用Windows环境操作。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这一页主要介绍了如何使用 Scrcpy 工具进行有线同屏操作。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首先是左侧的软件部署部分：我们需要下载 Scrcpy 的 Windows 压缩包，解压后直接运行 scrcpy.exe 即可。该工具非常轻量，无需安装。如果是 Linux 或 macOS 用户，可以参考官方的 GitHub 仓库获取对应版本。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然后是右侧的实际应用与适配：连接设备后，如果发现 Camera 画面没有显示或者方向不对，通常只需要转动物理设备即可解决。图片展示了实际的双目摄像头画面投屏效果，延迟极低，非常适合开发调试。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本页详细介绍了VR设备手柄绑定的完整流程。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1. </a:t>
            </a:r>
            <a:r>
              <a:rPr lang="en-US" sz="1400" b="0" i="0" u="none" strike="noStrike">
                <a:solidFill>
                  <a:srgbClr val="000000"/>
                </a:solidFill>
              </a:rPr>
              <a:t>首先通过投屏工具进入系统设置，找到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Handle</a:t>
            </a:r>
            <a:r>
              <a:rPr lang="en-US" sz="1400" b="0" i="0" u="none" strike="noStrike">
                <a:solidFill>
                  <a:srgbClr val="000000"/>
                </a:solidFill>
              </a:rPr>
              <a:t>选项。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2. </a:t>
            </a:r>
            <a:r>
              <a:rPr lang="en-US" sz="1400" b="0" i="0" u="none" strike="noStrike">
                <a:solidFill>
                  <a:srgbClr val="000000"/>
                </a:solidFill>
              </a:rPr>
              <a:t>若遇到界面异常，需使用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ADB</a:t>
            </a:r>
            <a:r>
              <a:rPr lang="en-US" sz="1400" b="0" i="0" u="none" strike="noStrike">
                <a:solidFill>
                  <a:srgbClr val="000000"/>
                </a:solidFill>
              </a:rPr>
              <a:t>命令关闭应用自启动并重启。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3. </a:t>
            </a:r>
            <a:r>
              <a:rPr lang="en-US" sz="1400" b="0" i="0" u="none" strike="noStrike">
                <a:solidFill>
                  <a:srgbClr val="000000"/>
                </a:solidFill>
              </a:rPr>
              <a:t>若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Home</a:t>
            </a:r>
            <a:r>
              <a:rPr lang="en-US" sz="1400" b="0" i="0" u="none" strike="noStrike">
                <a:solidFill>
                  <a:srgbClr val="000000"/>
                </a:solidFill>
              </a:rPr>
              <a:t>键无响应，说明有旧手柄绑定记录，需先执行解绑操作。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4. </a:t>
            </a:r>
            <a:r>
              <a:rPr lang="en-US" sz="1400" b="0" i="0" u="none" strike="noStrike">
                <a:solidFill>
                  <a:srgbClr val="000000"/>
                </a:solidFill>
              </a:rPr>
              <a:t>熟悉头显物理按键布局，掌握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Enter</a:t>
            </a:r>
            <a:r>
              <a:rPr lang="en-US" sz="1400" b="0" i="0" u="none" strike="noStrike">
                <a:solidFill>
                  <a:srgbClr val="000000"/>
                </a:solidFill>
              </a:rPr>
              <a:t>确认、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Home</a:t>
            </a:r>
            <a:r>
              <a:rPr lang="en-US" sz="1400" b="0" i="0" u="none" strike="noStrike">
                <a:solidFill>
                  <a:srgbClr val="000000"/>
                </a:solidFill>
              </a:rPr>
              <a:t>主页等基础交互。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5. </a:t>
            </a:r>
            <a:r>
              <a:rPr lang="en-US" sz="1400" b="0" i="0" u="none" strike="noStrike">
                <a:solidFill>
                  <a:srgbClr val="000000"/>
                </a:solidFill>
              </a:rPr>
              <a:t>确认状态为未绑定后，点击</a:t>
            </a: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Start binding</a:t>
            </a:r>
            <a:r>
              <a:rPr lang="en-US" sz="1400" b="0" i="0" u="none" strike="noStrike">
                <a:solidFill>
                  <a:srgbClr val="000000"/>
                </a:solidFill>
              </a:rPr>
              <a:t>开始搜索新手柄。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6. </a:t>
            </a:r>
            <a:r>
              <a:rPr lang="en-US" sz="1400" b="0" i="0" u="none" strike="noStrike">
                <a:solidFill>
                  <a:srgbClr val="000000"/>
                </a:solidFill>
              </a:rPr>
              <a:t>利用头显侧面按键调整视角，确保使用体验。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这一页我们详细介绍手柄的绑定流程，这是使用VR设备的关键步骤。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整个流程分为三步：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第一步是准备工作，需要先将两只手柄的电池取出，确保断电，这是为了重置手柄状态。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第二步是绑定右手柄，装入电池后，手柄会震动提示，此时按住指定的按键组合，系统会自动识别并配对。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第三步是绑定左手柄，流程与右手柄类似。完成后按Home键，就能看到主界面，说明手柄已经可以正常使用了。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1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2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/>
          <p:nvPr>
            <p:ph type="body" sz="quarter" idx="26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" name="AutoShape 9"/>
          <p:cNvSpPr/>
          <p:nvPr>
            <p:ph type="body" sz="quarter" idx="3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3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4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/>
          <p:nvPr>
            <p:ph type="body" sz="quarter" idx="47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/>
          <p:nvPr>
            <p:ph type="body" sz="quarter" idx="5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5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6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3.xml"/><Relationship Id="rId7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3.xml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23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3.xml"/><Relationship Id="rId5" Type="http://schemas.openxmlformats.org/officeDocument/2006/relationships/image" Target="../media/image48.png"/><Relationship Id="rId4" Type="http://schemas.openxmlformats.org/officeDocument/2006/relationships/tags" Target="../tags/tag1.xml"/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23.xml"/><Relationship Id="rId6" Type="http://schemas.openxmlformats.org/officeDocument/2006/relationships/image" Target="../media/image55.png"/><Relationship Id="rId5" Type="http://schemas.openxmlformats.org/officeDocument/2006/relationships/image" Target="../media/image54.jpeg"/><Relationship Id="rId4" Type="http://schemas.openxmlformats.org/officeDocument/2006/relationships/image" Target="../media/image53.png"/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image" Target="../media/image50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image" Target="../media/image5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 cap="flat" cmpd="sng">
            <a:solidFill>
              <a:srgbClr val="1CA3D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0" y="3810000"/>
            <a:ext cx="6350000" cy="6350000"/>
          </a:xfrm>
          <a:prstGeom prst="ellipse">
            <a:avLst/>
          </a:prstGeom>
          <a:solidFill>
            <a:srgbClr val="818CF8">
              <a:alpha val="10000"/>
            </a:srgbClr>
          </a:solidFill>
          <a:ln w="12700" cap="flat" cmpd="sng">
            <a:solidFill>
              <a:srgbClr val="5D69D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12700" cap="flat" cmpd="sng">
            <a:solidFill>
              <a:srgbClr val="E6CFCF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579">
            <a:off x="3" y="-63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762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8000" y="2032000"/>
            <a:ext cx="1016000" cy="1016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81000" y="3429000"/>
            <a:ext cx="1143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朗慧Ego数据采集介绍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1459">
            <a:off x="4191011" y="5073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35000" y="5461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构建全场景、高并发、低延迟的智能数据感知网络，为智慧生态提供精准底层支撑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下载链接与文件清单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009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08000" y="1440815"/>
            <a:ext cx="5524500" cy="227139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1631315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1567815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E6设备系统ROM包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488">
            <a:off x="698508" y="2132965"/>
            <a:ext cx="514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98500" y="2266315"/>
            <a:ext cx="514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VQ920-xxx_fastboot.tgz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完整系统升级包，以及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920_fastboot_all.sh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Linux环境专用刷机脚本，用于底层系统的更新与恢复。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59500" y="1440815"/>
            <a:ext cx="5524500" cy="227139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1631315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1567815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开发SDK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488">
            <a:off x="6350008" y="2132965"/>
            <a:ext cx="514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350000" y="2132965"/>
            <a:ext cx="514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朗慧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EGO SDK_xx.zip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二次开发包（内含API文档与数据清单）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发布地址：</a:t>
            </a:r>
            <a:endParaRPr lang="en-US" sz="1300" b="0" i="0" u="none" strike="noStrike">
              <a:solidFill>
                <a:srgbClr val="4472C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8000" y="4138930"/>
            <a:ext cx="5524500" cy="220662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432943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270000" y="426593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开发调试环境工具集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488">
            <a:off x="698508" y="4767580"/>
            <a:ext cx="514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98500" y="4837430"/>
            <a:ext cx="514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包含ADB驱动安装包、scrcpy有线同屏工具及VLC播放器。VLC用于播放导出的视频文件（Windows自带播放器可能不兼容），ADB与scrcpy用于设备调试与画面投屏。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159500" y="4138930"/>
            <a:ext cx="5524500" cy="220662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432943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21500" y="426593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04. 手机端遥控与辅助工具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8488">
            <a:off x="6350008" y="4767580"/>
            <a:ext cx="514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350000" y="4837430"/>
            <a:ext cx="514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提供手机端遥控E6设备的安装包</a:t>
            </a:r>
            <a:r>
              <a:rPr lang="en-US" sz="13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以及手机应用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，无需电脑即可通过手机查看设备画面与简易操作。内含详细Readme文档，设置及基础操控流程。</a:t>
            </a:r>
            <a:endParaRPr lang="en-US" sz="1100"/>
          </a:p>
        </p:txBody>
      </p:sp>
      <p:sp>
        <p:nvSpPr>
          <p:cNvPr id="28" name="文本框 27"/>
          <p:cNvSpPr txBox="1"/>
          <p:nvPr/>
        </p:nvSpPr>
        <p:spPr>
          <a:xfrm>
            <a:off x="622935" y="3030855"/>
            <a:ext cx="51441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/>
                </a:solidFill>
              </a:rPr>
              <a:t>https://pan.baidu.com/s/14FgxIk6znAFtEGy7US69uQ 提取码: va9b </a:t>
            </a:r>
            <a:endParaRPr lang="zh-CN" altLang="en-US">
              <a:solidFill>
                <a:schemeClr val="accent5"/>
              </a:solidFill>
            </a:endParaRPr>
          </a:p>
          <a:p>
            <a:endParaRPr lang="zh-CN" altLang="en-US">
              <a:solidFill>
                <a:schemeClr val="accent5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350000" y="2941955"/>
            <a:ext cx="48977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/>
                </a:solidFill>
              </a:rPr>
              <a:t>https://pan.baidu.com/s/1rIlThtLsOmISx1AJqCtAgQ 提取码: 6bmg </a:t>
            </a:r>
            <a:endParaRPr lang="zh-CN" altLang="en-US">
              <a:solidFill>
                <a:schemeClr val="accent5"/>
              </a:solidFill>
            </a:endParaRPr>
          </a:p>
          <a:p>
            <a:endParaRPr lang="zh-CN" altLang="en-US">
              <a:solidFill>
                <a:schemeClr val="accent5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22935" y="5732780"/>
            <a:ext cx="49828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/>
                </a:solidFill>
              </a:rPr>
              <a:t>https://pan.baidu.com/s/17njyNE37Fkj7thfpmLIa5w 提取码: 4tne </a:t>
            </a:r>
            <a:endParaRPr lang="zh-CN" altLang="en-US">
              <a:solidFill>
                <a:schemeClr val="accent5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50000" y="5720080"/>
            <a:ext cx="49828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/>
                </a:solidFill>
              </a:rPr>
              <a:t>https://pan.baidu.com/s/1zeO5mKNAe37JdldGleer1g 提取码: rfds </a:t>
            </a:r>
            <a:endParaRPr lang="zh-CN" altLang="en-US">
              <a:solidFill>
                <a:schemeClr val="accent5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8000" y="1083310"/>
            <a:ext cx="11176635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设备操作视频：</a:t>
            </a:r>
            <a:r>
              <a:rPr lang="zh-CN" altLang="en-US">
                <a:solidFill>
                  <a:schemeClr val="accent5"/>
                </a:solidFill>
              </a:rPr>
              <a:t>https://pan.baidu.com/s/1SeaVc8zPKC7OQmhL1S9blg 提取码: kknc </a:t>
            </a:r>
            <a:endParaRPr lang="zh-CN" altLang="en-US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E6头环应用安装 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2700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1F67DD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70000"/>
            <a:ext cx="762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重要提示：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400" b="1" i="0" u="none" strike="noStrike">
                <a:solidFill>
                  <a:srgbClr val="0000FE"/>
                </a:solidFill>
                <a:latin typeface="Noto Sans SC"/>
                <a:ea typeface="Noto Sans SC"/>
                <a:cs typeface="Noto Sans SC"/>
                <a:sym typeface="Noto Sans SC"/>
              </a:rPr>
              <a:t>请务必确保E6端应用和手机端应用是配套的。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540000"/>
            <a:ext cx="11176000" cy="3683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4200" y="212725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 应用安装流程 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488">
            <a:off x="698508" y="3168650"/>
            <a:ext cx="514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84200" y="4832350"/>
            <a:ext cx="530288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1、电脑下载压缩包【手机遥控E6设备安装包xxx.zip】并解压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2、用 USB 数据线，把E6 连接到这台 Windows 电脑</a:t>
            </a:r>
            <a:endParaRPr lang="en-US" sz="1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3、在解压出来的文件夹里，找到红框标出的【 install_vr.bat】</a:t>
            </a:r>
            <a:endParaRPr lang="en-US" sz="1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4、双击这个 bat 文件，脚本会自动执行，将应用安装进E6里</a:t>
            </a:r>
            <a:endParaRPr lang="en-US" sz="1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5、若安装失败，请检查电脑是否已正确配置 ADB 调试环境。</a:t>
            </a:r>
            <a:endParaRPr lang="en-US" sz="1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4200" y="2707640"/>
            <a:ext cx="11378565" cy="212471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33365" y="2461260"/>
            <a:ext cx="6743700" cy="3619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5080000" cy="50800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手机APP安装与环境准备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906">
            <a:off x="508004" y="1390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08000" y="5461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图示为解压后的安装包文件目录，红框标注的“app-release-phone-android.apk”即为Android手机端的应用安装文件，请确保路径正确无误。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89889">
            <a:off x="3937000" y="4184659"/>
            <a:ext cx="431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350000" y="2032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3B82F6">
              <a:alpha val="6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0500" y="2222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2159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确保软硬件版本同步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在进行APP安装前，请务必确认头环设备已完成固件升级至最新版本，同时手机系统也需适配安装最新版的控制应用，以保证通信协议一致，避免连接异常。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3556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3746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3619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获取并安装应用程序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下载并解压“xx.zip”安装包，在解压目录中找到APK文件。在Android手机上允许“未知来源应用安装”权限后，直接点击APK文件即可完成安装流程。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5080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F59E0B">
              <a:alpha val="6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5270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5143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查阅文档搭建运行环境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若在安装或连接过程中遇到问题，请详细阅读压缩包内附的“README.md”文档。文档中包含了完整的环境依赖配置、权限申请指引及常见问题排查方案。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92100" y="2222500"/>
            <a:ext cx="5619115" cy="222885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手机APP使用说明（IOS端搜索ego vision）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136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444500" y="1270000"/>
            <a:ext cx="3632200" cy="1651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1F67DD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44500" y="1270000"/>
            <a:ext cx="76200" cy="1651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1460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06500" y="14224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01. 设备准备与启动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3750">
            <a:off x="698513" y="2025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98500" y="2159000"/>
            <a:ext cx="325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B66"/>
                </a:solidFill>
                <a:latin typeface="Noto Sans SC"/>
                <a:ea typeface="Noto Sans SC"/>
                <a:cs typeface="Noto Sans SC"/>
                <a:sym typeface="Noto Sans SC"/>
              </a:rPr>
              <a:t>确认头环设备已安装最新应用固件，并确保设备处于开机状态，指示灯显示正常运行模式。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" y="3035300"/>
            <a:ext cx="36322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00A06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" y="3035300"/>
            <a:ext cx="762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3225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06500" y="31877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02. APP连接与配网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750">
            <a:off x="698513" y="37909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98500" y="3924300"/>
            <a:ext cx="325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B66"/>
                </a:solidFill>
                <a:latin typeface="Noto Sans SC"/>
                <a:ea typeface="Noto Sans SC"/>
                <a:cs typeface="Noto Sans SC"/>
                <a:sym typeface="Noto Sans SC"/>
              </a:rPr>
              <a:t>打开手机端Ego Version，点击“扫描设备”，在WiFi配置界面输入网络信息，完成设备配网与连接配对。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44500" y="4800600"/>
            <a:ext cx="3632200" cy="16510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12700" cap="flat" cmpd="sng">
            <a:solidFill>
              <a:srgbClr val="DC8A0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44500" y="4800600"/>
            <a:ext cx="76200" cy="1651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49911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206500" y="49530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03. 局域网预览与操控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3750">
            <a:off x="698513" y="55562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98500" y="5689600"/>
            <a:ext cx="325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B66"/>
                </a:solidFill>
                <a:latin typeface="Noto Sans SC"/>
                <a:ea typeface="Noto Sans SC"/>
                <a:cs typeface="Noto Sans SC"/>
                <a:sym typeface="Noto Sans SC"/>
              </a:rPr>
              <a:t>确保手机与头环设备处于同一局域网环境，即可在APP端实时预览画面，同时支持录像、拍照及参数调整等操控功能。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559300" y="1270000"/>
            <a:ext cx="2369820" cy="51403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002145" y="1270000"/>
            <a:ext cx="2369820" cy="51403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445625" y="1270000"/>
            <a:ext cx="2369185" cy="51403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按键录制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136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2519" r="2519"/>
          <a:stretch>
            <a:fillRect/>
          </a:stretch>
        </p:blipFill>
        <p:spPr>
          <a:xfrm>
            <a:off x="508000" y="1397000"/>
            <a:ext cx="2540000" cy="2286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302000" y="1397000"/>
            <a:ext cx="8382000" cy="2286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0" y="1524000"/>
            <a:ext cx="800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录制操作流程   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5371">
            <a:off x="3429005" y="2025650"/>
            <a:ext cx="812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429000" y="2222500"/>
            <a:ext cx="381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启动录制：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点击设备上的确认键（如左图红圈标识处）开始录制。系统提示语音目前仅支持中文，确保指令识别准确性。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63814">
            <a:off x="6762750" y="28194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493000" y="2222500"/>
            <a:ext cx="393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终止录制：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再次点击同一确认键结束录制。数据将被自动封装保存，无需手动干预。过程中请保持设备稳定，避免数据异常。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采集数据导出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96774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434340" y="2890520"/>
            <a:ext cx="11176635" cy="916305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25475" y="2700655"/>
            <a:ext cx="1034605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01.存储位置与导出路径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本地存储根目录：\Android\data\com.ssnwt.egoserver\files\dataset。连接USB后，在电脑端访问【此电脑 &gt; SXR_1或MTP USB设备 &gt; Internal shared storage】，按层级进入上述目录，拷贝全部文件。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57150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B923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58801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5778500"/>
            <a:ext cx="1003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播放兼容性说明：</a:t>
            </a:r>
            <a:r>
              <a:rPr lang="en-US" sz="1300" b="0" i="0" u="none" strike="noStrike">
                <a:solidFill>
                  <a:srgbClr val="431407"/>
                </a:solidFill>
                <a:latin typeface="Noto Sans SC"/>
                <a:ea typeface="Noto Sans SC"/>
                <a:cs typeface="Noto Sans SC"/>
                <a:sym typeface="Noto Sans SC"/>
              </a:rPr>
              <a:t>采集视频采用 HVC1 (HEVC) 高效编码，Windows 默认播放器不支持解码。建议使用 PotPlayer、VLC 等专业播放器打开，以获得最佳播放体验。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5475" y="4255135"/>
            <a:ext cx="5544820" cy="141097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0" name="AutoShape 10"/>
          <p:cNvSpPr/>
          <p:nvPr/>
        </p:nvSpPr>
        <p:spPr>
          <a:xfrm>
            <a:off x="6604000" y="4726305"/>
            <a:ext cx="6096000" cy="3067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注意：使用导出脚本，将清除设备所有采集文件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3836670"/>
            <a:ext cx="6096000" cy="3568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02.使用脚本导出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4340" y="1146810"/>
            <a:ext cx="8674100" cy="12954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采集数据导出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96774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1124585"/>
            <a:ext cx="6096000" cy="3568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03.局域网导出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8000" y="1624330"/>
            <a:ext cx="2058670" cy="446151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2693670" y="1590040"/>
            <a:ext cx="8382000" cy="171196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820670" y="1841500"/>
            <a:ext cx="381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手机端配置：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配置传输IP地址，确保头环、PC处于同一局域网下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63814">
            <a:off x="6154420" y="24384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884670" y="1841500"/>
            <a:ext cx="393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运行脚本：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找到安装包路径，查看DataseServer文件夹，运行脚本，完成自动导出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20670" y="3643630"/>
            <a:ext cx="4958715" cy="25222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13090" y="3643630"/>
            <a:ext cx="3322955" cy="22498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手机SDK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136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6311900" y="2950845"/>
            <a:ext cx="48260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38900" y="3077845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核心说明：Android SDK，与Ego VR端通信交互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6" name="Connector 6"/>
          <p:cNvCxnSpPr/>
          <p:nvPr/>
        </p:nvCxnSpPr>
        <p:spPr>
          <a:xfrm rot="5390708">
            <a:off x="3365500" y="3994159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334645" y="1270000"/>
            <a:ext cx="11176635" cy="662305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25780" y="1080135"/>
            <a:ext cx="1034605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SDK说明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请在SDK文件夹中找到Readme.md,仔细阅读相关说明</a:t>
            </a:r>
            <a:endParaRPr lang="en-US" sz="1300" b="0" i="0" u="none" strike="noStrike">
              <a:solidFill>
                <a:srgbClr val="1456F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25780" y="2601595"/>
            <a:ext cx="4744085" cy="256349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头环SDK与数据清单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136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48260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4953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核心说明：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SXR Camera API 提供 Native 层接口，通过动态加载 libsxr_camera_client.so 库调用。支持 TRACKING（灰度跟踪）、CTRL（灰度控制）、RGB（彩色相机）三种核心相机组枚举，为 XR 设备提供底层视觉数据支撑。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# 源码以及API、数据结构等说明见解压SDK后目录下的readme.md文档参考SDK_xx.zip</a:t>
            </a:r>
            <a:endParaRPr lang="en-US" sz="1300" b="1" i="0" u="none" strike="noStrike">
              <a:solidFill>
                <a:srgbClr val="FF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6" name="Connector 6"/>
          <p:cNvCxnSpPr/>
          <p:nvPr/>
        </p:nvCxnSpPr>
        <p:spPr>
          <a:xfrm rot="5390708">
            <a:off x="3365500" y="3994159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702300" y="2458720"/>
          <a:ext cx="5994400" cy="308419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97200"/>
                <a:gridCol w="2997200"/>
              </a:tblGrid>
              <a:tr h="24384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⽂件 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实测规格 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</a:tr>
              <a:tr h="48768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rgb.mp4 / 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HEVC 4656*1748 30fps，双⽬拼接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</a:tr>
              <a:tr h="48768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tracking.mp4 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Songti SC" panose="02010800040101010101" charset="-122"/>
                        <a:ea typeface="Songti SC" panose="02010800040101010101" charset="-122"/>
                        <a:cs typeface="Songti SC" panose="02010800040101010101" charset="-122"/>
                        <a:sym typeface="Songti SC" panose="02010800040101010101" charset="-122"/>
                      </a:endParaRPr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HEVC 灰度 1280×480 约 60fps（双⽬ 640×480 拼接）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</a:tr>
              <a:tr h="443865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ctrl.mp4 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HEVC 灰度 1280×480 约 60fps 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</a:tr>
              <a:tr h="48768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audio.m4a 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AAC 44.1kHz 单声道 90kbps左右 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</a:tr>
              <a:tr h="48895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hand_tracking.csv 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单⼿共 26 关节  72Hz；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imu_pose.csv 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Songti SC" panose="02010800040101010101" charset="-122"/>
                          <a:ea typeface="Songti SC" panose="02010800040101010101" charset="-122"/>
                          <a:cs typeface="Songti SC" panose="02010800040101010101" charset="-122"/>
                          <a:sym typeface="Songti SC" panose="02010800040101010101" charset="-122"/>
                        </a:rPr>
                        <a:t>IMU 加 6DoF 头姿 约 2kHz；</a:t>
                      </a:r>
                      <a:endParaRPr lang="en-US" sz="1100"/>
                    </a:p>
                  </a:txBody>
                  <a:tcPr marL="68580" marR="68580" marT="0" marB="0" anchor="t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334645" y="1270000"/>
            <a:ext cx="11176635" cy="662305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" y="1302385"/>
            <a:ext cx="10346055" cy="8070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SDK说明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请在在线文档中，仔细阅读相关说明</a:t>
            </a:r>
            <a:endParaRPr sz="13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5000" y="2395855"/>
            <a:ext cx="4311650" cy="187896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E5E7E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RGB Camera 帧率设置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390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508000" y="2032000"/>
            <a:ext cx="5524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032000"/>
            <a:ext cx="55245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1336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 A：切换至 60fps 高帧率模式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5016500" cy="1079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302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ADB 命令修改系统属性，将 RGB 相机的默认输出帧率调整为 60fps，适用于对动态捕捉要求较高的场景。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50165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45466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adb shell setprop persist.sxr.cam.rgb.fps 60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adb reboot</a:t>
            </a:r>
            <a:endParaRPr lang="en-US" sz="1300" b="1" i="0" u="none" strike="noStrike">
              <a:solidFill>
                <a:srgbClr val="2563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86500" y="2032000"/>
            <a:ext cx="5524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86500" y="2032000"/>
            <a:ext cx="55245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2159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75500" y="21336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方案 B：切换至 30fps 标准帧率模式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40500" y="3175000"/>
            <a:ext cx="5016500" cy="1079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67500" y="3302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ADB 命令恢复默认的 30fps 配置，在保证基础成像质量的同时，有效降低设备功耗和数据处理压力。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4445000"/>
            <a:ext cx="50165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67500" y="45466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adb shell setprop persist.sxr.cam.rgb.fps 30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adb reboot</a:t>
            </a:r>
            <a:endParaRPr lang="en-US" sz="1300" b="1" i="0" u="none" strike="noStrike">
              <a:solidFill>
                <a:srgbClr val="05966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08000" y="57150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FBBF24">
              <a:alpha val="15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58674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397000" y="5816600"/>
            <a:ext cx="1003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修改帧率属性后，必须执行</a:t>
            </a:r>
            <a:r>
              <a:rPr lang="en-US" sz="1400" b="1" i="0" u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adb reboot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命令重启设备，配置才能生效。该属性为持久化存储，重启后设置不会丢失。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升级系统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009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381000" y="1079500"/>
            <a:ext cx="55245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0795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" y="1143000"/>
            <a:ext cx="514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安装驱动环境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首次使用Windows电脑刷机需先安装驱动。双击运行 adb-setup-xx.exe，在弹出的命令行窗口中，所有选项均输入“Y”并回车，直至安装完成，确保ADB环境配置正确。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81000" y="2476500"/>
            <a:ext cx="55245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" y="24765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71500" y="2540000"/>
            <a:ext cx="514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校验当前系统版本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打开CMD终端，执行命令：adb shell getprop ro.internal.display.id。若输出版本号与固件包 VQ920-xxx_fastboot.tgz 文件名不符，则需按后续步骤进行系统升级。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81000" y="3873500"/>
            <a:ext cx="55245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1000" y="38735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1500" y="3937000"/>
            <a:ext cx="514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准备固件与连接设备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下载并解压固件包 VQ920-xxx_fastboot.tgz。使用Type-C数据线连接电脑与VR设备，长按开机键（确保设备非低电量，连接时LED非红灯状态），进入Fastboot模式。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389086">
            <a:off x="4286250" y="3390910"/>
            <a:ext cx="4000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1067435"/>
            <a:ext cx="5207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1067435"/>
            <a:ext cx="762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67500" y="1130935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04. 执行刷机脚本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进入解压后的固件包目录，双击运行含“xx_fastboot_all.bat”字样的脚本文件，程序将自动开始烧写镜像文件。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4253230"/>
            <a:ext cx="5207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253230"/>
            <a:ext cx="762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67500" y="431673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05. 验证升级结果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等待脚本界面输出“fastboot success”字段，即表示刷机成功。设备将自动重启并进入新系统，请勿中途断开连接。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264535" y="127000"/>
            <a:ext cx="8419465" cy="825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DBA7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15665" y="2159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3720465" y="127000"/>
            <a:ext cx="8358505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系统兼容说明：</a:t>
            </a:r>
            <a:r>
              <a:rPr lang="en-US" sz="1300" b="0" i="0" u="none" strike="noStrike">
                <a:solidFill>
                  <a:srgbClr val="431407"/>
                </a:solidFill>
                <a:latin typeface="Noto Sans SC"/>
                <a:ea typeface="Noto Sans SC"/>
                <a:cs typeface="Noto Sans SC"/>
                <a:sym typeface="Noto Sans SC"/>
              </a:rPr>
              <a:t>目前脚本主要适配Windows环境。Mac/Linux用户可尝试在已配置ADB环境下运行“bash 920_fastboot_all.sh”脚本，但未做全面兼容测试，若遇问题建议切换至Windows系统操作以确保稳定性。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77000" y="5542280"/>
            <a:ext cx="3738880" cy="122809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5" name="AutoShape 25"/>
          <p:cNvSpPr/>
          <p:nvPr/>
        </p:nvSpPr>
        <p:spPr>
          <a:xfrm>
            <a:off x="2083435" y="182880"/>
            <a:ext cx="1181100" cy="781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是否升级系统请联系销售判断</a:t>
            </a:r>
            <a:endParaRPr lang="en-US" sz="1100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477000" y="2388870"/>
            <a:ext cx="5142865" cy="16630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额外功能：连接电脑，配置手柄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06">
            <a:off x="508004" y="1136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08000" y="1524000"/>
            <a:ext cx="949325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76200" cy="4191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17145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软件部署与连接流程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703">
            <a:off x="762008" y="2279650"/>
            <a:ext cx="5016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754245" y="1805305"/>
            <a:ext cx="5056505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解压下载的 scrcpy-win64 压缩包，通过 USB 数据线连接 Windows 电脑与目标设备，直接运行文件夹中的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scrcpy.exe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主程序即可启动投屏服务。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826000"/>
            <a:ext cx="889508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注：该工具支持多平台系统（Linux/macOS），其他操作系统的部署方式及详细参数配置，请参考官方开源仓库：github.com/Genymobile/scrcpy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2607310"/>
            <a:ext cx="3547745" cy="218376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手柄绑定与交互设置流程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9461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329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6223000" y="1143000"/>
            <a:ext cx="5524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26365" r="26364"/>
          <a:stretch>
            <a:fillRect/>
          </a:stretch>
        </p:blipFill>
        <p:spPr>
          <a:xfrm>
            <a:off x="6350000" y="1270000"/>
            <a:ext cx="1905000" cy="14605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382000" y="1270000"/>
            <a:ext cx="3238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02. 进入手柄绑定界面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开机后使用 scrcpy 投屏，在主界面找到并点击【Setting】图标，进入系统设置菜单，随后选择【Handle】选项进入手柄配置页面。</a:t>
            </a:r>
            <a:endParaRPr lang="en-US" sz="1200" b="0" i="0" u="none" strike="noStrike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23190" y="1212850"/>
            <a:ext cx="5909310" cy="163131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58365" y="1222375"/>
            <a:ext cx="3874135" cy="1577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01. 退出当前应用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使用组合键临时退出：确认键+音量加键长按5秒</a:t>
            </a:r>
            <a:endParaRPr lang="en-US" sz="1200" b="0" i="0" u="none" strike="noStrike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endParaRPr sz="12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或执行取消开机自启动，操作指令：</a:t>
            </a:r>
            <a:endParaRPr lang="en-US" sz="1200" b="0" i="0" u="none" strike="noStrike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adb shell setprop persist.vr.autostartapp.pkg ''</a:t>
            </a:r>
            <a:endParaRPr lang="en-US" sz="1200" b="0" i="0" u="none" strike="noStrike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adb shell setprop persist.vr.autostartapp.entry  ''</a:t>
            </a:r>
            <a:endParaRPr lang="en-US" sz="1200" b="0" i="0" u="none" strike="noStrike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adb reboot</a:t>
            </a:r>
            <a:endParaRPr lang="en-US" sz="1200" b="0" i="0" u="none" strike="noStrike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200" b="0" i="0" u="none" strike="noStrike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3190" y="3175000"/>
            <a:ext cx="590931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l="16149" r="16148"/>
          <a:stretch>
            <a:fillRect/>
          </a:stretch>
        </p:blipFill>
        <p:spPr>
          <a:xfrm>
            <a:off x="252730" y="3307080"/>
            <a:ext cx="1905000" cy="14605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2159000" y="3301365"/>
            <a:ext cx="3746500" cy="1461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03. 解绑已配对的旧手柄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检查右上角状态，显示【Unbind】说明存在历史绑定。在Handle界面点击【Unbind】，在弹出的警示框中确认解绑操作，清除原有手柄连接记录。</a:t>
            </a:r>
            <a:endParaRPr lang="en-US" sz="1200" b="0" i="0" u="none" strike="noStrike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ps：未绑定手柄，请忽略3、4步骤</a:t>
            </a:r>
            <a:endParaRPr lang="en-US" sz="1200" b="0" i="0" u="none" strike="noStrike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3175000"/>
            <a:ext cx="5524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 l="2122" r="2122"/>
          <a:stretch>
            <a:fillRect/>
          </a:stretch>
        </p:blipFill>
        <p:spPr>
          <a:xfrm>
            <a:off x="6350000" y="3302000"/>
            <a:ext cx="1905000" cy="14605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382000" y="3302000"/>
            <a:ext cx="3238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04. 确认交互按键功能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解绑后界面提示手柄已断开，需熟悉头显物理按键：【Enter】为确认键，【Home】为菜单/主页键，【Volume】调节音量，确保按键交互正常。</a:t>
            </a:r>
            <a:endParaRPr lang="en-US" sz="1200" b="0" i="0" u="none" strike="noStrike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23190" y="5080000"/>
            <a:ext cx="590931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667000" y="5143500"/>
            <a:ext cx="3238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05. 启动新手柄绑定流程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点击界面右上角的【Start binding】按钮，系统将进入手柄搜索配对模式。绑定步骤详见下一页。</a:t>
            </a:r>
            <a:endParaRPr lang="en-US" sz="1200" b="0" i="0" u="none" strike="noStrike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5080000"/>
            <a:ext cx="5524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rcRect t="8396" b="8395"/>
          <a:stretch>
            <a:fillRect/>
          </a:stretch>
        </p:blipFill>
        <p:spPr>
          <a:xfrm>
            <a:off x="6350000" y="5143500"/>
            <a:ext cx="1905000" cy="13335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8382000" y="5143500"/>
            <a:ext cx="3238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06. 物理按键与视角调整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长按头显侧面功能键可触发视角重置，在绑定过程中若画面偏移，可通过此按键校准视野，确保VR场景视角居中。</a:t>
            </a:r>
            <a:endParaRPr lang="en-US" sz="1200" b="0" i="0" u="none" strike="noStrike">
              <a:solidFill>
                <a:srgbClr val="5055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3190" y="5334000"/>
            <a:ext cx="2471420" cy="80581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81940" y="1462405"/>
            <a:ext cx="1626235" cy="102679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绑定手柄操作指南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143000"/>
            <a:ext cx="11176000" cy="25400"/>
          </a:xfrm>
          <a:prstGeom prst="roundRect">
            <a:avLst>
              <a:gd name="adj" fmla="val 0"/>
            </a:avLst>
          </a:prstGeom>
          <a:solidFill>
            <a:srgbClr val="3B82F6">
              <a:alpha val="3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168400"/>
            <a:ext cx="3556000" cy="418465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10132" r="10133"/>
          <a:stretch>
            <a:fillRect/>
          </a:stretch>
        </p:blipFill>
        <p:spPr>
          <a:xfrm>
            <a:off x="635000" y="1422400"/>
            <a:ext cx="3302000" cy="2032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3708400"/>
            <a:ext cx="50800" cy="304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657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前期准备工作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3222">
            <a:off x="635012" y="42100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35000" y="43434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首先取出两只手柄的电池仓盖，移除内部电池，确保手柄处于断电状态，为后续的蓝牙配对流程做好基础准备。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18000" y="1168400"/>
            <a:ext cx="3556000" cy="418465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rcRect l="13881" r="13880"/>
          <a:stretch>
            <a:fillRect/>
          </a:stretch>
        </p:blipFill>
        <p:spPr>
          <a:xfrm>
            <a:off x="4445000" y="1422400"/>
            <a:ext cx="3302000" cy="2032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4445000" y="37084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3657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绑定右侧手柄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222">
            <a:off x="4445012" y="42100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445000" y="43434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为右手柄装入电池，等待手柄震动提示。随后同时按住图示的指定按键，保持至指示灯闪烁，直至系统界面弹出“绑定成功”的确认提示。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168400"/>
            <a:ext cx="3556000" cy="418465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 l="7855" r="7854"/>
          <a:stretch>
            <a:fillRect/>
          </a:stretch>
        </p:blipFill>
        <p:spPr>
          <a:xfrm>
            <a:off x="8255000" y="1422400"/>
            <a:ext cx="3302000" cy="2032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8255000" y="3708400"/>
            <a:ext cx="50800" cy="3048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3657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绑定左手柄与完成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3222">
            <a:off x="8255012" y="42100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43434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重复右手柄操作流程完成左手柄绑定。绑定结束后，按下手柄的Home键，即可进入如右图所示的VR主界面，至此手柄设置全部完成。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08000" y="6350000"/>
            <a:ext cx="11176000" cy="381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" y="6413500"/>
            <a:ext cx="1092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提示：若绑定失败，请检查电池电量是否充足，并确保手柄与主机距离在有效蓝牙范围内（建议1米内）。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07365" y="5407025"/>
            <a:ext cx="11176635" cy="9531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恢复数据采集应用自启动，请重新执行头环应用安装，或执行以下命令：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adb shell setprop persist.vr.autostartapp.pkg com.ssnwt.helloxr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adb shell setprop persist.vr.autostartapp.entry com.ssnwt.helloxr.VrNativeActivity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adb reboot</a:t>
            </a:r>
            <a:endParaRPr lang="en-US" sz="1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4648</Words>
  <Application>WPS 文字</Application>
  <PresentationFormat/>
  <Paragraphs>376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SC</vt:lpstr>
      <vt:lpstr>Thonburi</vt:lpstr>
      <vt:lpstr>Songti SC</vt:lpstr>
      <vt:lpstr>Consolas</vt:lpstr>
      <vt:lpstr>宋体</vt:lpstr>
      <vt:lpstr>汉仪书宋二KW</vt:lpstr>
      <vt:lpstr>微软雅黑</vt:lpstr>
      <vt:lpstr>汉仪旗黑</vt:lpstr>
      <vt:lpstr>Arial Unicode MS</vt:lpstr>
      <vt:lpstr>Office 主题​​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贺磊</cp:lastModifiedBy>
  <cp:revision>6</cp:revision>
  <dcterms:created xsi:type="dcterms:W3CDTF">2026-09-08T06:13:36Z</dcterms:created>
  <dcterms:modified xsi:type="dcterms:W3CDTF">2026-09-08T06:13:36Z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63CCABAF0A0EA6546E8F9F6AC1604DC5_42</vt:lpwstr>
  </property>
  <property fmtid="{D5CDD505-2E9C-101B-9397-08002B2CF9AE}" pid="3" name="KSOProductBuildVer">
    <vt:lpwstr>2052-6.8.2.8850</vt:lpwstr>
  </property>
</Properties>
</file>